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9"/>
  </p:notesMasterIdLst>
  <p:sldIdLst>
    <p:sldId id="256" r:id="rId2"/>
    <p:sldId id="307" r:id="rId3"/>
    <p:sldId id="308" r:id="rId4"/>
    <p:sldId id="310" r:id="rId5"/>
    <p:sldId id="309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2" r:id="rId17"/>
    <p:sldId id="323" r:id="rId18"/>
    <p:sldId id="324" r:id="rId19"/>
    <p:sldId id="321" r:id="rId20"/>
    <p:sldId id="325" r:id="rId21"/>
    <p:sldId id="326" r:id="rId22"/>
    <p:sldId id="330" r:id="rId23"/>
    <p:sldId id="331" r:id="rId24"/>
    <p:sldId id="327" r:id="rId25"/>
    <p:sldId id="332" r:id="rId26"/>
    <p:sldId id="333" r:id="rId27"/>
    <p:sldId id="334" r:id="rId28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74" autoAdjust="0"/>
  </p:normalViewPr>
  <p:slideViewPr>
    <p:cSldViewPr>
      <p:cViewPr varScale="1">
        <p:scale>
          <a:sx n="104" d="100"/>
          <a:sy n="104" d="100"/>
        </p:scale>
        <p:origin x="69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68139-3C75-41F0-A15D-3BD0B51793AB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DFCEA-1FD0-404A-BCE9-34551B26A0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294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5" name="Freeform 3"/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>
                <a:gd name="T0" fmla="*/ 329 w 2135"/>
                <a:gd name="T1" fmla="*/ 66 h 1804"/>
                <a:gd name="T2" fmla="*/ 161 w 2135"/>
                <a:gd name="T3" fmla="*/ 30 h 1804"/>
                <a:gd name="T4" fmla="*/ 0 w 2135"/>
                <a:gd name="T5" fmla="*/ 0 h 1804"/>
                <a:gd name="T6" fmla="*/ 0 w 2135"/>
                <a:gd name="T7" fmla="*/ 12 h 1804"/>
                <a:gd name="T8" fmla="*/ 161 w 2135"/>
                <a:gd name="T9" fmla="*/ 42 h 1804"/>
                <a:gd name="T10" fmla="*/ 323 w 2135"/>
                <a:gd name="T11" fmla="*/ 78 h 1804"/>
                <a:gd name="T12" fmla="*/ 556 w 2135"/>
                <a:gd name="T13" fmla="*/ 150 h 1804"/>
                <a:gd name="T14" fmla="*/ 777 w 2135"/>
                <a:gd name="T15" fmla="*/ 245 h 1804"/>
                <a:gd name="T16" fmla="*/ 993 w 2135"/>
                <a:gd name="T17" fmla="*/ 365 h 1804"/>
                <a:gd name="T18" fmla="*/ 1196 w 2135"/>
                <a:gd name="T19" fmla="*/ 503 h 1804"/>
                <a:gd name="T20" fmla="*/ 1381 w 2135"/>
                <a:gd name="T21" fmla="*/ 653 h 1804"/>
                <a:gd name="T22" fmla="*/ 1555 w 2135"/>
                <a:gd name="T23" fmla="*/ 827 h 1804"/>
                <a:gd name="T24" fmla="*/ 1710 w 2135"/>
                <a:gd name="T25" fmla="*/ 1019 h 1804"/>
                <a:gd name="T26" fmla="*/ 1854 w 2135"/>
                <a:gd name="T27" fmla="*/ 1229 h 1804"/>
                <a:gd name="T28" fmla="*/ 1937 w 2135"/>
                <a:gd name="T29" fmla="*/ 1366 h 1804"/>
                <a:gd name="T30" fmla="*/ 2009 w 2135"/>
                <a:gd name="T31" fmla="*/ 1510 h 1804"/>
                <a:gd name="T32" fmla="*/ 2069 w 2135"/>
                <a:gd name="T33" fmla="*/ 1654 h 1804"/>
                <a:gd name="T34" fmla="*/ 2123 w 2135"/>
                <a:gd name="T35" fmla="*/ 1804 h 1804"/>
                <a:gd name="T36" fmla="*/ 2135 w 2135"/>
                <a:gd name="T37" fmla="*/ 1804 h 1804"/>
                <a:gd name="T38" fmla="*/ 2081 w 2135"/>
                <a:gd name="T39" fmla="*/ 1654 h 1804"/>
                <a:gd name="T40" fmla="*/ 2021 w 2135"/>
                <a:gd name="T41" fmla="*/ 1510 h 1804"/>
                <a:gd name="T42" fmla="*/ 1949 w 2135"/>
                <a:gd name="T43" fmla="*/ 1366 h 1804"/>
                <a:gd name="T44" fmla="*/ 1866 w 2135"/>
                <a:gd name="T45" fmla="*/ 1223 h 1804"/>
                <a:gd name="T46" fmla="*/ 1722 w 2135"/>
                <a:gd name="T47" fmla="*/ 1013 h 1804"/>
                <a:gd name="T48" fmla="*/ 1561 w 2135"/>
                <a:gd name="T49" fmla="*/ 821 h 1804"/>
                <a:gd name="T50" fmla="*/ 1387 w 2135"/>
                <a:gd name="T51" fmla="*/ 647 h 1804"/>
                <a:gd name="T52" fmla="*/ 1202 w 2135"/>
                <a:gd name="T53" fmla="*/ 491 h 1804"/>
                <a:gd name="T54" fmla="*/ 999 w 2135"/>
                <a:gd name="T55" fmla="*/ 353 h 1804"/>
                <a:gd name="T56" fmla="*/ 783 w 2135"/>
                <a:gd name="T57" fmla="*/ 239 h 1804"/>
                <a:gd name="T58" fmla="*/ 562 w 2135"/>
                <a:gd name="T59" fmla="*/ 138 h 1804"/>
                <a:gd name="T60" fmla="*/ 329 w 2135"/>
                <a:gd name="T61" fmla="*/ 66 h 1804"/>
                <a:gd name="T62" fmla="*/ 329 w 2135"/>
                <a:gd name="T63" fmla="*/ 66 h 1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>
                <a:gd name="T0" fmla="*/ 1854 w 1854"/>
                <a:gd name="T1" fmla="*/ 1858 h 1858"/>
                <a:gd name="T2" fmla="*/ 0 w 1854"/>
                <a:gd name="T3" fmla="*/ 1858 h 1858"/>
                <a:gd name="T4" fmla="*/ 0 w 1854"/>
                <a:gd name="T5" fmla="*/ 0 h 1858"/>
                <a:gd name="T6" fmla="*/ 1854 w 1854"/>
                <a:gd name="T7" fmla="*/ 1858 h 1858"/>
                <a:gd name="T8" fmla="*/ 1854 w 1854"/>
                <a:gd name="T9" fmla="*/ 1858 h 1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>
                <a:gd name="T0" fmla="*/ 1640 w 1745"/>
                <a:gd name="T1" fmla="*/ 1377 h 1577"/>
                <a:gd name="T2" fmla="*/ 1692 w 1745"/>
                <a:gd name="T3" fmla="*/ 1479 h 1577"/>
                <a:gd name="T4" fmla="*/ 1732 w 1745"/>
                <a:gd name="T5" fmla="*/ 1577 h 1577"/>
                <a:gd name="T6" fmla="*/ 1745 w 1745"/>
                <a:gd name="T7" fmla="*/ 1577 h 1577"/>
                <a:gd name="T8" fmla="*/ 1703 w 1745"/>
                <a:gd name="T9" fmla="*/ 1469 h 1577"/>
                <a:gd name="T10" fmla="*/ 1649 w 1745"/>
                <a:gd name="T11" fmla="*/ 1367 h 1577"/>
                <a:gd name="T12" fmla="*/ 1535 w 1745"/>
                <a:gd name="T13" fmla="*/ 1157 h 1577"/>
                <a:gd name="T14" fmla="*/ 1395 w 1745"/>
                <a:gd name="T15" fmla="*/ 951 h 1577"/>
                <a:gd name="T16" fmla="*/ 1236 w 1745"/>
                <a:gd name="T17" fmla="*/ 756 h 1577"/>
                <a:gd name="T18" fmla="*/ 1061 w 1745"/>
                <a:gd name="T19" fmla="*/ 582 h 1577"/>
                <a:gd name="T20" fmla="*/ 876 w 1745"/>
                <a:gd name="T21" fmla="*/ 426 h 1577"/>
                <a:gd name="T22" fmla="*/ 672 w 1745"/>
                <a:gd name="T23" fmla="*/ 294 h 1577"/>
                <a:gd name="T24" fmla="*/ 455 w 1745"/>
                <a:gd name="T25" fmla="*/ 174 h 1577"/>
                <a:gd name="T26" fmla="*/ 234 w 1745"/>
                <a:gd name="T27" fmla="*/ 78 h 1577"/>
                <a:gd name="T28" fmla="*/ 0 w 1745"/>
                <a:gd name="T29" fmla="*/ 0 h 1577"/>
                <a:gd name="T30" fmla="*/ 0 w 1745"/>
                <a:gd name="T31" fmla="*/ 12 h 1577"/>
                <a:gd name="T32" fmla="*/ 222 w 1745"/>
                <a:gd name="T33" fmla="*/ 89 h 1577"/>
                <a:gd name="T34" fmla="*/ 446 w 1745"/>
                <a:gd name="T35" fmla="*/ 185 h 1577"/>
                <a:gd name="T36" fmla="*/ 662 w 1745"/>
                <a:gd name="T37" fmla="*/ 305 h 1577"/>
                <a:gd name="T38" fmla="*/ 866 w 1745"/>
                <a:gd name="T39" fmla="*/ 437 h 1577"/>
                <a:gd name="T40" fmla="*/ 1052 w 1745"/>
                <a:gd name="T41" fmla="*/ 593 h 1577"/>
                <a:gd name="T42" fmla="*/ 1226 w 1745"/>
                <a:gd name="T43" fmla="*/ 767 h 1577"/>
                <a:gd name="T44" fmla="*/ 1385 w 1745"/>
                <a:gd name="T45" fmla="*/ 960 h 1577"/>
                <a:gd name="T46" fmla="*/ 1526 w 1745"/>
                <a:gd name="T47" fmla="*/ 1167 h 1577"/>
                <a:gd name="T48" fmla="*/ 1640 w 1745"/>
                <a:gd name="T49" fmla="*/ 1377 h 1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>
                <a:gd name="T0" fmla="*/ 0 w 1745"/>
                <a:gd name="T1" fmla="*/ 0 h 1768"/>
                <a:gd name="T2" fmla="*/ 0 w 1745"/>
                <a:gd name="T3" fmla="*/ 12 h 1768"/>
                <a:gd name="T4" fmla="*/ 210 w 1745"/>
                <a:gd name="T5" fmla="*/ 88 h 1768"/>
                <a:gd name="T6" fmla="*/ 426 w 1745"/>
                <a:gd name="T7" fmla="*/ 190 h 1768"/>
                <a:gd name="T8" fmla="*/ 630 w 1745"/>
                <a:gd name="T9" fmla="*/ 304 h 1768"/>
                <a:gd name="T10" fmla="*/ 818 w 1745"/>
                <a:gd name="T11" fmla="*/ 442 h 1768"/>
                <a:gd name="T12" fmla="*/ 998 w 1745"/>
                <a:gd name="T13" fmla="*/ 592 h 1768"/>
                <a:gd name="T14" fmla="*/ 1164 w 1745"/>
                <a:gd name="T15" fmla="*/ 766 h 1768"/>
                <a:gd name="T16" fmla="*/ 1310 w 1745"/>
                <a:gd name="T17" fmla="*/ 942 h 1768"/>
                <a:gd name="T18" fmla="*/ 1454 w 1745"/>
                <a:gd name="T19" fmla="*/ 1146 h 1768"/>
                <a:gd name="T20" fmla="*/ 1536 w 1745"/>
                <a:gd name="T21" fmla="*/ 1298 h 1768"/>
                <a:gd name="T22" fmla="*/ 1614 w 1745"/>
                <a:gd name="T23" fmla="*/ 1456 h 1768"/>
                <a:gd name="T24" fmla="*/ 1682 w 1745"/>
                <a:gd name="T25" fmla="*/ 1616 h 1768"/>
                <a:gd name="T26" fmla="*/ 1733 w 1745"/>
                <a:gd name="T27" fmla="*/ 1768 h 1768"/>
                <a:gd name="T28" fmla="*/ 1745 w 1745"/>
                <a:gd name="T29" fmla="*/ 1768 h 1768"/>
                <a:gd name="T30" fmla="*/ 1691 w 1745"/>
                <a:gd name="T31" fmla="*/ 1606 h 1768"/>
                <a:gd name="T32" fmla="*/ 1623 w 1745"/>
                <a:gd name="T33" fmla="*/ 1445 h 1768"/>
                <a:gd name="T34" fmla="*/ 1547 w 1745"/>
                <a:gd name="T35" fmla="*/ 1288 h 1768"/>
                <a:gd name="T36" fmla="*/ 1463 w 1745"/>
                <a:gd name="T37" fmla="*/ 1136 h 1768"/>
                <a:gd name="T38" fmla="*/ 1320 w 1745"/>
                <a:gd name="T39" fmla="*/ 932 h 1768"/>
                <a:gd name="T40" fmla="*/ 1173 w 1745"/>
                <a:gd name="T41" fmla="*/ 755 h 1768"/>
                <a:gd name="T42" fmla="*/ 1008 w 1745"/>
                <a:gd name="T43" fmla="*/ 581 h 1768"/>
                <a:gd name="T44" fmla="*/ 827 w 1745"/>
                <a:gd name="T45" fmla="*/ 431 h 1768"/>
                <a:gd name="T46" fmla="*/ 642 w 1745"/>
                <a:gd name="T47" fmla="*/ 293 h 1768"/>
                <a:gd name="T48" fmla="*/ 437 w 1745"/>
                <a:gd name="T49" fmla="*/ 179 h 1768"/>
                <a:gd name="T50" fmla="*/ 222 w 1745"/>
                <a:gd name="T51" fmla="*/ 78 h 1768"/>
                <a:gd name="T52" fmla="*/ 0 w 1745"/>
                <a:gd name="T53" fmla="*/ 0 h 1768"/>
                <a:gd name="T54" fmla="*/ 0 w 1745"/>
                <a:gd name="T55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/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/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/>
            </a:p>
          </p:txBody>
        </p:sp>
      </p:grpSp>
      <p:sp>
        <p:nvSpPr>
          <p:cNvPr id="5130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2" name="Rectangle 12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20CD6C-955B-4A0B-B36F-F0DFF04ECA3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846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407266-71B0-4DA7-8B6A-9604946CE90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486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E75D2-65E4-4962-A4CC-937B2C4915F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991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F04C1-56A9-4799-AF56-45BBF590D16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0327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C4EBF7-59BD-42CC-8BF0-D18CD290BA2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8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5F239-6EE7-468A-B7FB-0211468F5F5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56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64FFCD-BB48-41B0-A0D4-B35E84A9890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8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CC9A1F-B12D-4159-8B0E-235FB80C429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01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BE96B-2156-46F4-B5E7-C66FDCF8B26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679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45284-2433-423D-85A8-DA875191236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53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572B4-72C1-4294-9175-77A70647B11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75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4099" name="Freeform 3"/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>
                <a:gd name="T0" fmla="*/ 329 w 2135"/>
                <a:gd name="T1" fmla="*/ 66 h 1804"/>
                <a:gd name="T2" fmla="*/ 161 w 2135"/>
                <a:gd name="T3" fmla="*/ 30 h 1804"/>
                <a:gd name="T4" fmla="*/ 0 w 2135"/>
                <a:gd name="T5" fmla="*/ 0 h 1804"/>
                <a:gd name="T6" fmla="*/ 0 w 2135"/>
                <a:gd name="T7" fmla="*/ 12 h 1804"/>
                <a:gd name="T8" fmla="*/ 161 w 2135"/>
                <a:gd name="T9" fmla="*/ 42 h 1804"/>
                <a:gd name="T10" fmla="*/ 323 w 2135"/>
                <a:gd name="T11" fmla="*/ 78 h 1804"/>
                <a:gd name="T12" fmla="*/ 556 w 2135"/>
                <a:gd name="T13" fmla="*/ 150 h 1804"/>
                <a:gd name="T14" fmla="*/ 777 w 2135"/>
                <a:gd name="T15" fmla="*/ 245 h 1804"/>
                <a:gd name="T16" fmla="*/ 993 w 2135"/>
                <a:gd name="T17" fmla="*/ 365 h 1804"/>
                <a:gd name="T18" fmla="*/ 1196 w 2135"/>
                <a:gd name="T19" fmla="*/ 503 h 1804"/>
                <a:gd name="T20" fmla="*/ 1381 w 2135"/>
                <a:gd name="T21" fmla="*/ 653 h 1804"/>
                <a:gd name="T22" fmla="*/ 1555 w 2135"/>
                <a:gd name="T23" fmla="*/ 827 h 1804"/>
                <a:gd name="T24" fmla="*/ 1710 w 2135"/>
                <a:gd name="T25" fmla="*/ 1019 h 1804"/>
                <a:gd name="T26" fmla="*/ 1854 w 2135"/>
                <a:gd name="T27" fmla="*/ 1229 h 1804"/>
                <a:gd name="T28" fmla="*/ 1937 w 2135"/>
                <a:gd name="T29" fmla="*/ 1366 h 1804"/>
                <a:gd name="T30" fmla="*/ 2009 w 2135"/>
                <a:gd name="T31" fmla="*/ 1510 h 1804"/>
                <a:gd name="T32" fmla="*/ 2069 w 2135"/>
                <a:gd name="T33" fmla="*/ 1654 h 1804"/>
                <a:gd name="T34" fmla="*/ 2123 w 2135"/>
                <a:gd name="T35" fmla="*/ 1804 h 1804"/>
                <a:gd name="T36" fmla="*/ 2135 w 2135"/>
                <a:gd name="T37" fmla="*/ 1804 h 1804"/>
                <a:gd name="T38" fmla="*/ 2081 w 2135"/>
                <a:gd name="T39" fmla="*/ 1654 h 1804"/>
                <a:gd name="T40" fmla="*/ 2021 w 2135"/>
                <a:gd name="T41" fmla="*/ 1510 h 1804"/>
                <a:gd name="T42" fmla="*/ 1949 w 2135"/>
                <a:gd name="T43" fmla="*/ 1366 h 1804"/>
                <a:gd name="T44" fmla="*/ 1866 w 2135"/>
                <a:gd name="T45" fmla="*/ 1223 h 1804"/>
                <a:gd name="T46" fmla="*/ 1722 w 2135"/>
                <a:gd name="T47" fmla="*/ 1013 h 1804"/>
                <a:gd name="T48" fmla="*/ 1561 w 2135"/>
                <a:gd name="T49" fmla="*/ 821 h 1804"/>
                <a:gd name="T50" fmla="*/ 1387 w 2135"/>
                <a:gd name="T51" fmla="*/ 647 h 1804"/>
                <a:gd name="T52" fmla="*/ 1202 w 2135"/>
                <a:gd name="T53" fmla="*/ 491 h 1804"/>
                <a:gd name="T54" fmla="*/ 999 w 2135"/>
                <a:gd name="T55" fmla="*/ 353 h 1804"/>
                <a:gd name="T56" fmla="*/ 783 w 2135"/>
                <a:gd name="T57" fmla="*/ 239 h 1804"/>
                <a:gd name="T58" fmla="*/ 562 w 2135"/>
                <a:gd name="T59" fmla="*/ 138 h 1804"/>
                <a:gd name="T60" fmla="*/ 329 w 2135"/>
                <a:gd name="T61" fmla="*/ 66 h 1804"/>
                <a:gd name="T62" fmla="*/ 329 w 2135"/>
                <a:gd name="T63" fmla="*/ 66 h 1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100" name="Freeform 4"/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>
                <a:gd name="T0" fmla="*/ 1854 w 1854"/>
                <a:gd name="T1" fmla="*/ 1858 h 1858"/>
                <a:gd name="T2" fmla="*/ 0 w 1854"/>
                <a:gd name="T3" fmla="*/ 1858 h 1858"/>
                <a:gd name="T4" fmla="*/ 0 w 1854"/>
                <a:gd name="T5" fmla="*/ 0 h 1858"/>
                <a:gd name="T6" fmla="*/ 1854 w 1854"/>
                <a:gd name="T7" fmla="*/ 1858 h 1858"/>
                <a:gd name="T8" fmla="*/ 1854 w 1854"/>
                <a:gd name="T9" fmla="*/ 1858 h 1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101" name="Freeform 5"/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>
                <a:gd name="T0" fmla="*/ 1640 w 1745"/>
                <a:gd name="T1" fmla="*/ 1377 h 1577"/>
                <a:gd name="T2" fmla="*/ 1692 w 1745"/>
                <a:gd name="T3" fmla="*/ 1479 h 1577"/>
                <a:gd name="T4" fmla="*/ 1732 w 1745"/>
                <a:gd name="T5" fmla="*/ 1577 h 1577"/>
                <a:gd name="T6" fmla="*/ 1745 w 1745"/>
                <a:gd name="T7" fmla="*/ 1577 h 1577"/>
                <a:gd name="T8" fmla="*/ 1703 w 1745"/>
                <a:gd name="T9" fmla="*/ 1469 h 1577"/>
                <a:gd name="T10" fmla="*/ 1649 w 1745"/>
                <a:gd name="T11" fmla="*/ 1367 h 1577"/>
                <a:gd name="T12" fmla="*/ 1535 w 1745"/>
                <a:gd name="T13" fmla="*/ 1157 h 1577"/>
                <a:gd name="T14" fmla="*/ 1395 w 1745"/>
                <a:gd name="T15" fmla="*/ 951 h 1577"/>
                <a:gd name="T16" fmla="*/ 1236 w 1745"/>
                <a:gd name="T17" fmla="*/ 756 h 1577"/>
                <a:gd name="T18" fmla="*/ 1061 w 1745"/>
                <a:gd name="T19" fmla="*/ 582 h 1577"/>
                <a:gd name="T20" fmla="*/ 876 w 1745"/>
                <a:gd name="T21" fmla="*/ 426 h 1577"/>
                <a:gd name="T22" fmla="*/ 672 w 1745"/>
                <a:gd name="T23" fmla="*/ 294 h 1577"/>
                <a:gd name="T24" fmla="*/ 455 w 1745"/>
                <a:gd name="T25" fmla="*/ 174 h 1577"/>
                <a:gd name="T26" fmla="*/ 234 w 1745"/>
                <a:gd name="T27" fmla="*/ 78 h 1577"/>
                <a:gd name="T28" fmla="*/ 0 w 1745"/>
                <a:gd name="T29" fmla="*/ 0 h 1577"/>
                <a:gd name="T30" fmla="*/ 0 w 1745"/>
                <a:gd name="T31" fmla="*/ 12 h 1577"/>
                <a:gd name="T32" fmla="*/ 222 w 1745"/>
                <a:gd name="T33" fmla="*/ 89 h 1577"/>
                <a:gd name="T34" fmla="*/ 446 w 1745"/>
                <a:gd name="T35" fmla="*/ 185 h 1577"/>
                <a:gd name="T36" fmla="*/ 662 w 1745"/>
                <a:gd name="T37" fmla="*/ 305 h 1577"/>
                <a:gd name="T38" fmla="*/ 866 w 1745"/>
                <a:gd name="T39" fmla="*/ 437 h 1577"/>
                <a:gd name="T40" fmla="*/ 1052 w 1745"/>
                <a:gd name="T41" fmla="*/ 593 h 1577"/>
                <a:gd name="T42" fmla="*/ 1226 w 1745"/>
                <a:gd name="T43" fmla="*/ 767 h 1577"/>
                <a:gd name="T44" fmla="*/ 1385 w 1745"/>
                <a:gd name="T45" fmla="*/ 960 h 1577"/>
                <a:gd name="T46" fmla="*/ 1526 w 1745"/>
                <a:gd name="T47" fmla="*/ 1167 h 1577"/>
                <a:gd name="T48" fmla="*/ 1640 w 1745"/>
                <a:gd name="T49" fmla="*/ 1377 h 1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102" name="Freeform 6"/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>
                <a:gd name="T0" fmla="*/ 0 w 1745"/>
                <a:gd name="T1" fmla="*/ 0 h 1768"/>
                <a:gd name="T2" fmla="*/ 0 w 1745"/>
                <a:gd name="T3" fmla="*/ 12 h 1768"/>
                <a:gd name="T4" fmla="*/ 210 w 1745"/>
                <a:gd name="T5" fmla="*/ 88 h 1768"/>
                <a:gd name="T6" fmla="*/ 426 w 1745"/>
                <a:gd name="T7" fmla="*/ 190 h 1768"/>
                <a:gd name="T8" fmla="*/ 630 w 1745"/>
                <a:gd name="T9" fmla="*/ 304 h 1768"/>
                <a:gd name="T10" fmla="*/ 818 w 1745"/>
                <a:gd name="T11" fmla="*/ 442 h 1768"/>
                <a:gd name="T12" fmla="*/ 998 w 1745"/>
                <a:gd name="T13" fmla="*/ 592 h 1768"/>
                <a:gd name="T14" fmla="*/ 1164 w 1745"/>
                <a:gd name="T15" fmla="*/ 766 h 1768"/>
                <a:gd name="T16" fmla="*/ 1310 w 1745"/>
                <a:gd name="T17" fmla="*/ 942 h 1768"/>
                <a:gd name="T18" fmla="*/ 1454 w 1745"/>
                <a:gd name="T19" fmla="*/ 1146 h 1768"/>
                <a:gd name="T20" fmla="*/ 1536 w 1745"/>
                <a:gd name="T21" fmla="*/ 1298 h 1768"/>
                <a:gd name="T22" fmla="*/ 1614 w 1745"/>
                <a:gd name="T23" fmla="*/ 1456 h 1768"/>
                <a:gd name="T24" fmla="*/ 1682 w 1745"/>
                <a:gd name="T25" fmla="*/ 1616 h 1768"/>
                <a:gd name="T26" fmla="*/ 1733 w 1745"/>
                <a:gd name="T27" fmla="*/ 1768 h 1768"/>
                <a:gd name="T28" fmla="*/ 1745 w 1745"/>
                <a:gd name="T29" fmla="*/ 1768 h 1768"/>
                <a:gd name="T30" fmla="*/ 1691 w 1745"/>
                <a:gd name="T31" fmla="*/ 1606 h 1768"/>
                <a:gd name="T32" fmla="*/ 1623 w 1745"/>
                <a:gd name="T33" fmla="*/ 1445 h 1768"/>
                <a:gd name="T34" fmla="*/ 1547 w 1745"/>
                <a:gd name="T35" fmla="*/ 1288 h 1768"/>
                <a:gd name="T36" fmla="*/ 1463 w 1745"/>
                <a:gd name="T37" fmla="*/ 1136 h 1768"/>
                <a:gd name="T38" fmla="*/ 1320 w 1745"/>
                <a:gd name="T39" fmla="*/ 932 h 1768"/>
                <a:gd name="T40" fmla="*/ 1173 w 1745"/>
                <a:gd name="T41" fmla="*/ 755 h 1768"/>
                <a:gd name="T42" fmla="*/ 1008 w 1745"/>
                <a:gd name="T43" fmla="*/ 581 h 1768"/>
                <a:gd name="T44" fmla="*/ 827 w 1745"/>
                <a:gd name="T45" fmla="*/ 431 h 1768"/>
                <a:gd name="T46" fmla="*/ 642 w 1745"/>
                <a:gd name="T47" fmla="*/ 293 h 1768"/>
                <a:gd name="T48" fmla="*/ 437 w 1745"/>
                <a:gd name="T49" fmla="*/ 179 h 1768"/>
                <a:gd name="T50" fmla="*/ 222 w 1745"/>
                <a:gd name="T51" fmla="*/ 78 h 1768"/>
                <a:gd name="T52" fmla="*/ 0 w 1745"/>
                <a:gd name="T53" fmla="*/ 0 h 1768"/>
                <a:gd name="T54" fmla="*/ 0 w 1745"/>
                <a:gd name="T55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036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/>
            </a:p>
          </p:txBody>
        </p:sp>
        <p:sp>
          <p:nvSpPr>
            <p:cNvPr id="1037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/>
            </a:p>
          </p:txBody>
        </p:sp>
        <p:sp>
          <p:nvSpPr>
            <p:cNvPr id="1038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/>
            </a:p>
          </p:txBody>
        </p:sp>
      </p:grpSp>
      <p:sp>
        <p:nvSpPr>
          <p:cNvPr id="4106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pPr>
              <a:defRPr/>
            </a:pPr>
            <a:fld id="{2D1D2ABB-CBDF-47EA-9341-4716686600C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1125935"/>
            <a:ext cx="7772400" cy="3455194"/>
          </a:xfrm>
        </p:spPr>
        <p:txBody>
          <a:bodyPr/>
          <a:lstStyle/>
          <a:p>
            <a:pPr eaLnBrk="1" hangingPunct="1">
              <a:defRPr/>
            </a:pPr>
            <a:r>
              <a:rPr lang="ru-RU" sz="44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Оформление курсовых работ, курсовых проектов и выпускных квалификационных работ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E0624B6-56C0-6815-54B3-B30F5BA8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063" y="6021288"/>
            <a:ext cx="3995937" cy="69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defPPr rtl="0">
              <a:defRPr lang="ru-ru"/>
            </a:defPPr>
            <a:lvl1pPr marL="0" algn="ctr" defTabSz="914400" rtl="0" eaLnBrk="1" latinLnBrk="0" hangingPunct="1">
              <a:defRPr sz="4800" kern="12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+mn-ea"/>
                <a:cs typeface="+mn-cs"/>
              </a:defRPr>
            </a:lvl1pPr>
            <a:lvl2pPr marL="457200" algn="ctr" defTabSz="914400" rtl="0" eaLnBrk="1" latinLnBrk="0" hangingPunct="1">
              <a:defRPr sz="4800" kern="12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+mn-ea"/>
                <a:cs typeface="+mn-cs"/>
              </a:defRPr>
            </a:lvl2pPr>
            <a:lvl3pPr marL="914400" algn="ctr" defTabSz="914400" rtl="0" eaLnBrk="1" latinLnBrk="0" hangingPunct="1">
              <a:defRPr sz="4800" kern="12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+mn-ea"/>
                <a:cs typeface="+mn-cs"/>
              </a:defRPr>
            </a:lvl3pPr>
            <a:lvl4pPr marL="1371600" algn="ctr" defTabSz="914400" rtl="0" eaLnBrk="1" latinLnBrk="0" hangingPunct="1">
              <a:defRPr sz="4800" kern="12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+mn-ea"/>
                <a:cs typeface="+mn-cs"/>
              </a:defRPr>
            </a:lvl4pPr>
            <a:lvl5pPr marL="1828800" algn="ctr" defTabSz="914400" rtl="0" eaLnBrk="1" latinLnBrk="0" hangingPunct="1">
              <a:defRPr sz="4800" kern="12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+mn-ea"/>
                <a:cs typeface="+mn-cs"/>
              </a:defRPr>
            </a:lvl5pPr>
            <a:lvl6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800" kern="12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+mn-ea"/>
                <a:cs typeface="+mn-cs"/>
              </a:defRPr>
            </a:lvl6pPr>
            <a:lvl7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800" kern="12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+mn-ea"/>
                <a:cs typeface="+mn-cs"/>
              </a:defRPr>
            </a:lvl7pPr>
            <a:lvl8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800" kern="12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+mn-ea"/>
                <a:cs typeface="+mn-cs"/>
              </a:defRPr>
            </a:lvl8pPr>
            <a:lvl9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800" kern="12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+mn-ea"/>
                <a:cs typeface="+mn-cs"/>
              </a:defRPr>
            </a:lvl9pPr>
          </a:lstStyle>
          <a:p>
            <a:pPr algn="r"/>
            <a:r>
              <a:rPr lang="ru-RU" altLang="ru-RU" sz="1600">
                <a:solidFill>
                  <a:schemeClr val="tx1">
                    <a:lumMod val="85000"/>
                  </a:schemeClr>
                </a:solidFill>
                <a:effectLst/>
              </a:rPr>
              <a:t>Доцент кафедры «Цифровая индустрия и защита информации» ДВГУПС</a:t>
            </a:r>
          </a:p>
          <a:p>
            <a:pPr algn="r"/>
            <a:r>
              <a:rPr lang="ru-RU" altLang="ru-RU" sz="1600">
                <a:solidFill>
                  <a:schemeClr val="tx1">
                    <a:lumMod val="85000"/>
                  </a:schemeClr>
                </a:solidFill>
                <a:effectLst/>
              </a:rPr>
              <a:t>Анисимов В.В.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Общие требования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0" y="765175"/>
            <a:ext cx="9144000" cy="6092825"/>
          </a:xfrm>
          <a:noFill/>
        </p:spPr>
        <p:txBody>
          <a:bodyPr/>
          <a:lstStyle/>
          <a:p>
            <a:pPr algn="just" eaLnBrk="1" hangingPunct="1">
              <a:spcBef>
                <a:spcPts val="0"/>
              </a:spcBef>
            </a:pPr>
            <a:r>
              <a:rPr lang="ru-RU" altLang="ru-RU" sz="1800" dirty="0">
                <a:effectLst/>
              </a:rPr>
              <a:t>Текст пояснительной записки (ПЗ) должен быть выполнен на белой бумаге </a:t>
            </a:r>
            <a:r>
              <a:rPr lang="ru-RU" altLang="ru-RU" sz="1800" dirty="0">
                <a:solidFill>
                  <a:srgbClr val="FFC000"/>
                </a:solidFill>
                <a:effectLst/>
              </a:rPr>
              <a:t>формата</a:t>
            </a:r>
            <a:r>
              <a:rPr lang="ru-RU" altLang="ru-RU" sz="1800" dirty="0">
                <a:effectLst/>
              </a:rPr>
              <a:t> А4 (210х297 мм) с одной стороны листа, </a:t>
            </a:r>
            <a:r>
              <a:rPr lang="ru-RU" altLang="ru-RU" sz="1800" dirty="0">
                <a:solidFill>
                  <a:srgbClr val="FFC000"/>
                </a:solidFill>
                <a:effectLst/>
              </a:rPr>
              <a:t>цвет</a:t>
            </a:r>
            <a:r>
              <a:rPr lang="ru-RU" altLang="ru-RU" sz="1800" dirty="0">
                <a:effectLst/>
              </a:rPr>
              <a:t> текста и таблиц – чёрный, </a:t>
            </a:r>
            <a:r>
              <a:rPr lang="ru-RU" altLang="ru-RU" sz="1800" dirty="0">
                <a:solidFill>
                  <a:srgbClr val="FFC000"/>
                </a:solidFill>
                <a:effectLst/>
              </a:rPr>
              <a:t>цвет</a:t>
            </a:r>
            <a:r>
              <a:rPr lang="ru-RU" altLang="ru-RU" sz="1800" dirty="0">
                <a:effectLst/>
              </a:rPr>
              <a:t> рисунков –  допускается (рекомендуется) разноцветный.</a:t>
            </a:r>
          </a:p>
          <a:p>
            <a:pPr algn="just" eaLnBrk="1" hangingPunct="1">
              <a:spcBef>
                <a:spcPts val="0"/>
              </a:spcBef>
            </a:pPr>
            <a:endParaRPr lang="ru-RU" altLang="ru-RU" sz="1800" dirty="0">
              <a:effectLst/>
            </a:endParaRPr>
          </a:p>
          <a:p>
            <a:pPr algn="just" eaLnBrk="1" hangingPunct="1">
              <a:spcBef>
                <a:spcPts val="0"/>
              </a:spcBef>
            </a:pPr>
            <a:r>
              <a:rPr lang="ru-RU" altLang="ru-RU" sz="1800" dirty="0">
                <a:effectLst/>
              </a:rPr>
              <a:t>Рекомендуется использовать </a:t>
            </a:r>
            <a:r>
              <a:rPr lang="ru-RU" altLang="ru-RU" sz="1800" dirty="0">
                <a:solidFill>
                  <a:srgbClr val="FFC000"/>
                </a:solidFill>
                <a:effectLst/>
              </a:rPr>
              <a:t>шрифт</a:t>
            </a:r>
            <a:r>
              <a:rPr lang="ru-RU" altLang="ru-RU" sz="1800" dirty="0">
                <a:effectLst/>
              </a:rPr>
              <a:t> Times New </a:t>
            </a:r>
            <a:r>
              <a:rPr lang="ru-RU" altLang="ru-RU" sz="1800" dirty="0" err="1">
                <a:effectLst/>
              </a:rPr>
              <a:t>Roman</a:t>
            </a:r>
            <a:r>
              <a:rPr lang="ru-RU" altLang="ru-RU" sz="1800" dirty="0">
                <a:effectLst/>
              </a:rPr>
              <a:t> – 14пт, допускается </a:t>
            </a:r>
            <a:r>
              <a:rPr lang="ru-RU" altLang="ru-RU" sz="1800" dirty="0" err="1">
                <a:effectLst/>
              </a:rPr>
              <a:t>Arial</a:t>
            </a:r>
            <a:r>
              <a:rPr lang="ru-RU" altLang="ru-RU" sz="1800" dirty="0">
                <a:effectLst/>
              </a:rPr>
              <a:t> – 12пт. </a:t>
            </a:r>
          </a:p>
          <a:p>
            <a:pPr algn="just" eaLnBrk="1" hangingPunct="1">
              <a:spcBef>
                <a:spcPts val="0"/>
              </a:spcBef>
            </a:pPr>
            <a:endParaRPr lang="ru-RU" altLang="ru-RU" sz="1800" dirty="0">
              <a:effectLst/>
            </a:endParaRPr>
          </a:p>
          <a:p>
            <a:pPr algn="just" eaLnBrk="1" hangingPunct="1">
              <a:spcBef>
                <a:spcPts val="0"/>
              </a:spcBef>
            </a:pPr>
            <a:r>
              <a:rPr lang="ru-RU" altLang="ru-RU" sz="1800" dirty="0">
                <a:solidFill>
                  <a:srgbClr val="FFC000"/>
                </a:solidFill>
                <a:effectLst/>
              </a:rPr>
              <a:t>Выравнивание</a:t>
            </a:r>
            <a:r>
              <a:rPr lang="ru-RU" altLang="ru-RU" sz="1800" dirty="0">
                <a:effectLst/>
              </a:rPr>
              <a:t> текстового материала (основного текста) – по ширине.</a:t>
            </a:r>
          </a:p>
          <a:p>
            <a:pPr algn="just" eaLnBrk="1" hangingPunct="1">
              <a:spcBef>
                <a:spcPts val="0"/>
              </a:spcBef>
            </a:pPr>
            <a:endParaRPr lang="ru-RU" altLang="ru-RU" sz="1800" dirty="0">
              <a:effectLst/>
            </a:endParaRPr>
          </a:p>
          <a:p>
            <a:pPr algn="just" eaLnBrk="1" hangingPunct="1">
              <a:spcBef>
                <a:spcPts val="0"/>
              </a:spcBef>
            </a:pPr>
            <a:r>
              <a:rPr lang="ru-RU" altLang="ru-RU" sz="1800" dirty="0">
                <a:solidFill>
                  <a:srgbClr val="FFC000"/>
                </a:solidFill>
                <a:effectLst/>
              </a:rPr>
              <a:t>Размеры полей</a:t>
            </a:r>
            <a:r>
              <a:rPr lang="ru-RU" altLang="ru-RU" sz="1800" dirty="0">
                <a:effectLst/>
              </a:rPr>
              <a:t>:</a:t>
            </a:r>
          </a:p>
          <a:p>
            <a:pPr marL="342900" indent="-342900" algn="just" eaLnBrk="1" hangingPunct="1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−"/>
            </a:pPr>
            <a:r>
              <a:rPr lang="ru-RU" altLang="ru-RU" sz="1800" dirty="0">
                <a:effectLst/>
              </a:rPr>
              <a:t>левое – не менее 30 мм;</a:t>
            </a:r>
          </a:p>
          <a:p>
            <a:pPr marL="342900" indent="-342900" algn="just" eaLnBrk="1" hangingPunct="1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−"/>
            </a:pPr>
            <a:r>
              <a:rPr lang="ru-RU" altLang="ru-RU" sz="1800" dirty="0">
                <a:effectLst/>
              </a:rPr>
              <a:t>правое – не менее 10 мм;</a:t>
            </a:r>
          </a:p>
          <a:p>
            <a:pPr marL="342900" indent="-342900" algn="just" eaLnBrk="1" hangingPunct="1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−"/>
            </a:pPr>
            <a:r>
              <a:rPr lang="ru-RU" altLang="ru-RU" sz="1800" dirty="0">
                <a:effectLst/>
              </a:rPr>
              <a:t>верхнее и нижнее – не менее 20 мм.</a:t>
            </a:r>
          </a:p>
          <a:p>
            <a:pPr marL="342900" indent="-342900" algn="just" eaLnBrk="1" hangingPunct="1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−"/>
            </a:pPr>
            <a:endParaRPr lang="ru-RU" altLang="ru-RU" sz="1800" dirty="0">
              <a:effectLst/>
            </a:endParaRPr>
          </a:p>
          <a:p>
            <a:pPr algn="just" eaLnBrk="1" hangingPunct="1">
              <a:spcBef>
                <a:spcPts val="0"/>
              </a:spcBef>
              <a:buClr>
                <a:schemeClr val="tx1"/>
              </a:buClr>
            </a:pPr>
            <a:r>
              <a:rPr lang="ru-RU" altLang="ru-RU" sz="1800" dirty="0">
                <a:effectLst/>
              </a:rPr>
              <a:t>Страницы ПЗ </a:t>
            </a:r>
            <a:r>
              <a:rPr lang="ru-RU" altLang="ru-RU" sz="1800" dirty="0">
                <a:solidFill>
                  <a:srgbClr val="FFC000"/>
                </a:solidFill>
                <a:effectLst/>
              </a:rPr>
              <a:t>нумеруются</a:t>
            </a:r>
            <a:r>
              <a:rPr lang="ru-RU" altLang="ru-RU" sz="1800" dirty="0">
                <a:effectLst/>
              </a:rPr>
              <a:t> арабскими цифрами, сквозной нумерацией по всему тексту, включая приложения. На титульном листе, листе задания, отзыве руководителя и оглавлении номера страниц не проставляются. В нумерацию страниц не входят: обложка (но не титульный лист), лист задания, рецензия, отзыв руководителя, отзыв предприятия, справка о внедрении и т.п.</a:t>
            </a:r>
          </a:p>
          <a:p>
            <a:pPr algn="just" eaLnBrk="1" hangingPunct="1">
              <a:spcBef>
                <a:spcPts val="0"/>
              </a:spcBef>
              <a:buClr>
                <a:schemeClr val="tx1"/>
              </a:buClr>
            </a:pPr>
            <a:r>
              <a:rPr lang="ru-RU" altLang="ru-RU" sz="1800" dirty="0">
                <a:effectLst/>
              </a:rPr>
              <a:t>Номер страницы проставляется в правой нижней части листа (в нижнем колонтитуле) без точек и чёрточек.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BAD97B-ED49-46E7-9905-D64856DBA34E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2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35941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 l="-13000" r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29A490-70FF-6236-B49A-7B5A6E9A4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4B92FC02-6737-77CB-24CD-CF7ED86E364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Заголовки разделов (глав)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3AE3A-8FF7-DA46-C1C3-488A89A4A4BF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3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924CA1EC-A2C1-0522-CCD8-2FDEF35EC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530370"/>
              </p:ext>
            </p:extLst>
          </p:nvPr>
        </p:nvGraphicFramePr>
        <p:xfrm>
          <a:off x="179512" y="828000"/>
          <a:ext cx="8784976" cy="4624080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2141970065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1332627666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Параметр</a:t>
                      </a:r>
                      <a:endParaRPr lang="ru-RU" sz="1600" b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Значение</a:t>
                      </a:r>
                      <a:endParaRPr lang="ru-RU" sz="1600" b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46711"/>
                  </a:ext>
                </a:extLst>
              </a:tr>
              <a:tr h="1162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Выравнивание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По левому краю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30630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Отступ слева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0,75 см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03713"/>
                  </a:ext>
                </a:extLst>
              </a:tr>
              <a:tr h="132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Отступ справа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см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446143"/>
                  </a:ext>
                </a:extLst>
              </a:tr>
              <a:tr h="104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Отступ первой строки</a:t>
                      </a:r>
                      <a:endParaRPr lang="ru-RU" sz="1600" b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Выступ 0,75 см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556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Интервал перед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ru-RU" sz="160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пт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88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Интервал после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ru-RU" sz="160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пт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08270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Межстрочный интервал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1,5 строки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57685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Запрет висячих строк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03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Не отрывать от следующего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3912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Не разрывать абзац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59917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С новой страницы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 – для заголовков первого уровня.</a:t>
                      </a: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Нет – для заголовков остальных уровней.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980532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Запретить автоматический перенос слов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021901"/>
                  </a:ext>
                </a:extLst>
              </a:tr>
            </a:tbl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31128988-D548-1FAD-6290-36827DD36A1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5730805"/>
            <a:ext cx="9144000" cy="1127195"/>
          </a:xfrm>
          <a:noFill/>
        </p:spPr>
        <p:txBody>
          <a:bodyPr/>
          <a:lstStyle/>
          <a:p>
            <a:pPr algn="just" eaLnBrk="1" hangingPunct="1">
              <a:spcBef>
                <a:spcPts val="0"/>
              </a:spcBef>
            </a:pPr>
            <a:r>
              <a:rPr lang="ru-RU" altLang="ru-RU" sz="1800" dirty="0">
                <a:effectLst/>
              </a:rPr>
              <a:t>Между заголовками разный уровней – одна пустая строка с 1.5-ым м</a:t>
            </a:r>
            <a:r>
              <a:rPr lang="ru-RU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ежстрочным интервалом</a:t>
            </a:r>
            <a:r>
              <a:rPr lang="ru-RU" altLang="ru-RU" sz="1800" dirty="0">
                <a:effectLst/>
              </a:rPr>
              <a:t>, заголовком и текстом раздела – две пустых строки с 1.5-ым м</a:t>
            </a:r>
            <a:r>
              <a:rPr lang="ru-RU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ежстрочным интервалом.</a:t>
            </a:r>
          </a:p>
        </p:txBody>
      </p:sp>
    </p:spTree>
    <p:extLst>
      <p:ext uri="{BB962C8B-B14F-4D97-AF65-F5344CB8AC3E}">
        <p14:creationId xmlns:p14="http://schemas.microsoft.com/office/powerpoint/2010/main" val="146107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AEF403A-A13E-8278-76BF-5AE715413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701D90A1-7C64-A783-2190-AB3321D1AC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Основной текст раздела (главы)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83CD7-4137-FAAE-0A27-A0D3A962E151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4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2566625-74CA-88DA-1F5F-D73A93373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655775"/>
              </p:ext>
            </p:extLst>
          </p:nvPr>
        </p:nvGraphicFramePr>
        <p:xfrm>
          <a:off x="179512" y="828000"/>
          <a:ext cx="8784976" cy="3432720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2141970065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1332627666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Параметр</a:t>
                      </a:r>
                      <a:endParaRPr lang="ru-RU" sz="1600" b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Значение</a:t>
                      </a:r>
                      <a:endParaRPr lang="ru-RU" sz="1600" b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46711"/>
                  </a:ext>
                </a:extLst>
              </a:tr>
              <a:tr h="1162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Выравнивание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По ширине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30630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Отступ слева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см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03713"/>
                  </a:ext>
                </a:extLst>
              </a:tr>
              <a:tr h="132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Отступ справа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см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446143"/>
                  </a:ext>
                </a:extLst>
              </a:tr>
              <a:tr h="104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Отступ первой строки</a:t>
                      </a:r>
                      <a:endParaRPr lang="ru-RU" sz="1600" b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Отступ 0,75 см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556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Интервал перед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ru-RU" sz="160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пт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88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Интервал после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ru-RU" sz="160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пт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08270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Межстрочный интервал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1,5 строки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57685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Запрет висячих строк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03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Запретить автоматический перенос слов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 или Нет – допустимы оба варианта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021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66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75ADFB-B93B-018D-C381-0805ECC8C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A09EC29B-03E4-B71C-97E7-9B78DF2958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980728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Заголовки и основной текст</a:t>
            </a:r>
            <a:br>
              <a:rPr lang="ru-RU" sz="36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</a:br>
            <a:r>
              <a:rPr lang="ru-RU" sz="36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(пример)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6AB3A-521A-3956-BF99-9A90532EC1FD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5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5CF784A-26DB-6B01-0360-A5B78AB5F2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340768"/>
            <a:ext cx="8640000" cy="493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790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282C0BA-ACA3-CFCB-BCB2-D288E4399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6DCE1901-DE86-AD05-050B-8F9292F4B31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Таблицы – Заголовок перед таблицей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3C9528-2C82-CCD1-57EC-378FAEAEC361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6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67B714C-E022-1E87-C1E4-4ACA5A0FB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129783"/>
              </p:ext>
            </p:extLst>
          </p:nvPr>
        </p:nvGraphicFramePr>
        <p:xfrm>
          <a:off x="179512" y="828000"/>
          <a:ext cx="8784976" cy="5416560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2141970065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1332627666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cs typeface="Arial" panose="020B0604020202020204" pitchFamily="34" charset="0"/>
                        </a:rPr>
                        <a:t>Параметр</a:t>
                      </a:r>
                      <a:endParaRPr lang="ru-RU" sz="1400" b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cs typeface="Arial" panose="020B0604020202020204" pitchFamily="34" charset="0"/>
                        </a:rPr>
                        <a:t>Значение</a:t>
                      </a:r>
                      <a:endParaRPr lang="ru-RU" sz="1400" b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46711"/>
                  </a:ext>
                </a:extLst>
              </a:tr>
              <a:tr h="1162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Выравнивание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По центру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30630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Отступ слева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см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03713"/>
                  </a:ext>
                </a:extLst>
              </a:tr>
              <a:tr h="132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Отступ справа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см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446143"/>
                  </a:ext>
                </a:extLst>
              </a:tr>
              <a:tr h="104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Отступ первой строки</a:t>
                      </a:r>
                      <a:endParaRPr lang="ru-RU" sz="1400" b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Отсутствует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556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Интервал перед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ru-RU" sz="1400" err="1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пт</a:t>
                      </a:r>
                      <a:endParaRPr lang="ru-RU" sz="140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88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Интервал после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ru-RU" sz="1400" err="1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пт</a:t>
                      </a:r>
                      <a:endParaRPr lang="ru-RU" sz="140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08270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Межстрочный интервал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1,5 строки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57685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Запрет висячих строк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03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Не отрывать от следующего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02190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Не разрывать абзац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20514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Запретить автоматический перенос слов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82268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Текст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Таблица должна иметь нумерационный заголовок и тематический заголовок, определяющий ее тему и содержание (без знака препинания в конце). Таблицы нумеруются в пределах раздела (приложения) арабскими цифрами. Номер таблицы должен состоять из номера раздела и порядкового номера таблицы, разделённых точкой. После ставиться «короткое тире» и следует текст тематического заголовка таблицы. Например, «Таблица 5.4 – Основные экономические показатели проекта».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64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337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41084F5-4DCE-25C2-E14E-C2A1B610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1BE620A5-98A6-08FC-3EAB-10B050825B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Таблицы – Шапка таблицы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745553-97FC-F8B0-5FA9-AD413CC91F16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7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D4CEEF44-1FC4-E4BF-B4C1-45639B973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94426"/>
              </p:ext>
            </p:extLst>
          </p:nvPr>
        </p:nvGraphicFramePr>
        <p:xfrm>
          <a:off x="179512" y="828000"/>
          <a:ext cx="8784976" cy="4707120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2141970065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1332627666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cs typeface="Arial" panose="020B0604020202020204" pitchFamily="34" charset="0"/>
                        </a:rPr>
                        <a:t>Параметр</a:t>
                      </a:r>
                      <a:endParaRPr lang="ru-RU" sz="1400" b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cs typeface="Arial" panose="020B0604020202020204" pitchFamily="34" charset="0"/>
                        </a:rPr>
                        <a:t>Значение</a:t>
                      </a:r>
                      <a:endParaRPr lang="ru-RU" sz="1400" b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46711"/>
                  </a:ext>
                </a:extLst>
              </a:tr>
              <a:tr h="116208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Параметры абзаца для ячейки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ru-RU" sz="140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65785"/>
                  </a:ext>
                </a:extLst>
              </a:tr>
              <a:tr h="1162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Выравнивание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По горизонтали – «по центру».</a:t>
                      </a: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По вертикали – «по центру».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30630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Отступ слева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см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03713"/>
                  </a:ext>
                </a:extLst>
              </a:tr>
              <a:tr h="132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Отступ справа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см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446143"/>
                  </a:ext>
                </a:extLst>
              </a:tr>
              <a:tr h="104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Отступ первой строки</a:t>
                      </a:r>
                      <a:endParaRPr lang="ru-RU" sz="1400" b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Отсутствует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556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Интервал перед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ru-RU" sz="1400" err="1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пт</a:t>
                      </a:r>
                      <a:endParaRPr lang="ru-RU" sz="140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88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Интервал после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ru-RU" sz="1400" err="1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пт</a:t>
                      </a:r>
                      <a:endParaRPr lang="ru-RU" sz="140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08270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Межстрочный интервал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1,0 строки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57685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Запрет висячих строк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03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Не отрывать от следующего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02190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Не разрывать абзац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20514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Запретить автоматический перенос слов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Нет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822681"/>
                  </a:ext>
                </a:extLst>
              </a:tr>
              <a:tr h="250111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Параметры полей для ячейки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ru-RU" sz="140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641886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Поля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Верхнее и нижнее – 0 см, левое и правое – 0,1 см.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931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592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8DFB4A-53FE-76DD-D815-6CC2EC2CD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E4682956-ADFC-B8E2-4070-72294296AD0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Таблицы – Тело таблицы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7334F8-4073-E6D8-BA53-0E92D1EA7F1B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8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38A6355-A65C-E48B-8FA0-C9BA24306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77651"/>
              </p:ext>
            </p:extLst>
          </p:nvPr>
        </p:nvGraphicFramePr>
        <p:xfrm>
          <a:off x="179512" y="828000"/>
          <a:ext cx="8784976" cy="4349760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2141970065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1332627666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cs typeface="Arial" panose="020B0604020202020204" pitchFamily="34" charset="0"/>
                        </a:rPr>
                        <a:t>Параметр</a:t>
                      </a:r>
                      <a:endParaRPr lang="ru-RU" sz="1400" b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cs typeface="Arial" panose="020B0604020202020204" pitchFamily="34" charset="0"/>
                        </a:rPr>
                        <a:t>Значение</a:t>
                      </a:r>
                      <a:endParaRPr lang="ru-RU" sz="1400" b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46711"/>
                  </a:ext>
                </a:extLst>
              </a:tr>
              <a:tr h="116208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Параметры абзаца для ячейки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ru-RU" sz="140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65785"/>
                  </a:ext>
                </a:extLst>
              </a:tr>
              <a:tr h="1162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Выравнивание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По горизонтали – «по левому краю», «по ширине» или «по центру».</a:t>
                      </a: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По вертикали – «по верхнему краю» или «по центру».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30630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Отступ слева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см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03713"/>
                  </a:ext>
                </a:extLst>
              </a:tr>
              <a:tr h="132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Отступ справа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см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446143"/>
                  </a:ext>
                </a:extLst>
              </a:tr>
              <a:tr h="104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Отступ первой строки</a:t>
                      </a:r>
                      <a:endParaRPr lang="ru-RU" sz="1400" b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Отсутствует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556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Интервал перед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ru-RU" sz="1400" err="1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пт</a:t>
                      </a:r>
                      <a:endParaRPr lang="ru-RU" sz="140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88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Интервал после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ru-RU" sz="1400" err="1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пт</a:t>
                      </a:r>
                      <a:endParaRPr lang="ru-RU" sz="140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08270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Межстрочный интервал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1,0 строки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57685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Запрет висячих строк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03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Запретить автоматический перенос слов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 или Нет – допустимы оба варианта</a:t>
                      </a:r>
                    </a:p>
                    <a:p>
                      <a:pPr algn="just">
                        <a:lnSpc>
                          <a:spcPct val="100000"/>
                        </a:lnSpc>
                      </a:pPr>
                      <a:endParaRPr lang="ru-RU" sz="1400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822681"/>
                  </a:ext>
                </a:extLst>
              </a:tr>
              <a:tr h="250111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Параметры полей для ячейки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ru-RU" sz="140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641886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Поля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Верхнее и нижнее – 0 см, левое и правое – 0,1 см.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931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2805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3EB4E1-C6DD-50C6-0BFA-B61952962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2F56241D-6789-7C63-259C-4EDAF73989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Таблицы – дополнительные требования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DDF76-B14C-667F-5FA1-DEEC26B94144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9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ED35D81-B823-A664-D8CF-3231803A04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836712"/>
            <a:ext cx="9144000" cy="6021288"/>
          </a:xfrm>
          <a:noFill/>
        </p:spPr>
        <p:txBody>
          <a:bodyPr/>
          <a:lstStyle/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На все таблицы должны быть ссылки в тексте ПЗ.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Таблицу следует располагать в ПЗ непосредственно после абзаца, где она упоминается впервые, или на следующем листе (странице).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Выравнивание самой таблицы (шапки и тела) должно быть «по центру» (узкие таблицы) или «на всю ширину страницы» (широкие таблицы).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На странице должны быть заголовок, шапка и, как минимум, одна строка таблицы.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До заголовка таблицы пустая строка не ставиться, после таблицы предусматривается пустая строка.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Если содержимое таблицы переходит на следующую страницу (страницы), то вначале промежуточных страниц пишется «Продолжение таблицы </a:t>
            </a:r>
            <a:r>
              <a:rPr lang="en-US" altLang="ru-RU" sz="2000" dirty="0">
                <a:effectLst/>
              </a:rPr>
              <a:t>N.M</a:t>
            </a:r>
            <a:r>
              <a:rPr lang="ru-RU" altLang="ru-RU" sz="2000" dirty="0">
                <a:effectLst/>
              </a:rPr>
              <a:t>», на последней странице – «Окончание таблицы </a:t>
            </a:r>
            <a:r>
              <a:rPr lang="en-US" altLang="ru-RU" sz="2000" dirty="0">
                <a:effectLst/>
              </a:rPr>
              <a:t>N.M</a:t>
            </a:r>
            <a:r>
              <a:rPr lang="ru-RU" altLang="ru-RU" sz="2000" dirty="0">
                <a:effectLst/>
              </a:rPr>
              <a:t>» с выравниванием «по левому краю» и повторением шапки таблицы, где «</a:t>
            </a:r>
            <a:r>
              <a:rPr lang="en-US" altLang="ru-RU" sz="2000" dirty="0">
                <a:effectLst/>
              </a:rPr>
              <a:t>N.M</a:t>
            </a:r>
            <a:r>
              <a:rPr lang="ru-RU" altLang="ru-RU" sz="2000" dirty="0">
                <a:effectLst/>
              </a:rPr>
              <a:t>» – </a:t>
            </a:r>
            <a:r>
              <a:rPr lang="ru-RU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номер  раздела и порядкового номера таблицы.</a:t>
            </a: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770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319FF0-0FC9-A13E-1342-634CA9786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7525F864-FBF4-B7A2-D8C7-2EEF503D2D6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980728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Таблицы</a:t>
            </a:r>
            <a:b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</a:b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(пример)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CD0C31-2DF9-D6E6-203F-8A25CD592514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10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A6B231-46A0-0862-EAC6-98167D34E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668" y="1340768"/>
            <a:ext cx="5976664" cy="534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503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0CA130-6F87-55D8-4800-F42B28939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9F4697E9-58AF-80AD-D9CB-4665592D08D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Рисунки – Подпись после рисунка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6F18B-0EF7-0921-E49D-F37F083FFB0F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11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4B0DAAE-F503-B348-4F25-2C0B61316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507764"/>
              </p:ext>
            </p:extLst>
          </p:nvPr>
        </p:nvGraphicFramePr>
        <p:xfrm>
          <a:off x="179512" y="828000"/>
          <a:ext cx="8784976" cy="5203200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2141970065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1332627666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cs typeface="Arial" panose="020B0604020202020204" pitchFamily="34" charset="0"/>
                        </a:rPr>
                        <a:t>Параметр</a:t>
                      </a:r>
                      <a:endParaRPr lang="ru-RU" sz="1400" b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cs typeface="Arial" panose="020B0604020202020204" pitchFamily="34" charset="0"/>
                        </a:rPr>
                        <a:t>Значение</a:t>
                      </a:r>
                      <a:endParaRPr lang="ru-RU" sz="1400" b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46711"/>
                  </a:ext>
                </a:extLst>
              </a:tr>
              <a:tr h="1162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Выравнивание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По центру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30630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Отступ слева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см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03713"/>
                  </a:ext>
                </a:extLst>
              </a:tr>
              <a:tr h="132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Отступ справа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см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446143"/>
                  </a:ext>
                </a:extLst>
              </a:tr>
              <a:tr h="104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Отступ первой строки</a:t>
                      </a:r>
                      <a:endParaRPr lang="ru-RU" sz="1400" b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Отсутствует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556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Интервал перед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ru-RU" sz="1400" err="1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пт</a:t>
                      </a:r>
                      <a:endParaRPr lang="ru-RU" sz="140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88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Интервал после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ru-RU" sz="1400" err="1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пт</a:t>
                      </a:r>
                      <a:endParaRPr lang="ru-RU" sz="140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08270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Межстрочный интервал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1,5 строки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57685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Запрет висячих строк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03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Не отрывать от следующего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02190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Не разрывать абзац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20514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Запретить автоматический перенос слов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Да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822681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Текст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Рисунок должна иметь нумерацию и тематическую подпись. Рисунки нумеруются в пределах раздела (приложения) арабскими цифрами. Номер рисунка должен состоять из номера раздела и порядкового номера рисунка, разделённых точкой. После ставиться «короткое тире» и следует текст тематической подписи рисунка. Например, «Рисунок 1.1 – Схема распределённой базы данных».</a:t>
                      </a:r>
                    </a:p>
                  </a:txBody>
                  <a:tcPr marL="36000" marR="36000" marT="36000" marB="360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64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806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0603B8-E329-FBE5-8333-F521AF80A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110DC7BB-53F7-C4B4-7AF5-E368C1717A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Рисунки – дополнительные требования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D4BD8-638B-B3E4-4E29-9C2C52868CFD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12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AD2BF3D-53DE-14EB-7C1C-83E4CBD4FD3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836712"/>
            <a:ext cx="9144000" cy="6021288"/>
          </a:xfrm>
          <a:noFill/>
        </p:spPr>
        <p:txBody>
          <a:bodyPr/>
          <a:lstStyle/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На все рисунки должны быть ссылки в тексте ПЗ.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Рисунок следует располагать в ПЗ непосредственно после абзаца, где он упоминается впервые, или на следующем листе (странице).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Выравнивание рисунка должно быть «по центру» (узкие рисунки) или «на всю ширину страницы» (широкие рисунки).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Рисунок и подпись должны быть на одной странице (пример 1).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До рисунка и после подписи пустые строки не ставятся.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Если рисунок слишком широкий, то рекомендуется его располагать на отдельной странице с поворотом самого рисунка и подписи к нему на 90</a:t>
            </a:r>
            <a:r>
              <a:rPr lang="ru-RU" altLang="ru-RU" sz="2000" baseline="30000" dirty="0">
                <a:effectLst/>
              </a:rPr>
              <a:t>о</a:t>
            </a:r>
            <a:r>
              <a:rPr lang="ru-RU" altLang="ru-RU" sz="2000" dirty="0">
                <a:effectLst/>
              </a:rPr>
              <a:t> против часовой стрелки</a:t>
            </a:r>
            <a:r>
              <a:rPr lang="ru-RU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 Для этого можно вставить таблицу с одной строкой из двух ячеек без отрисовки границ и в первую ячейку поместить повернутый рисунок, а во вторую – повернутую подпись (пример 2).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 построении диаграмм (схем) следует минимизировать число пересечений, петель и поворотов линий (стрелок).</a:t>
            </a:r>
          </a:p>
        </p:txBody>
      </p:sp>
    </p:spTree>
    <p:extLst>
      <p:ext uri="{BB962C8B-B14F-4D97-AF65-F5344CB8AC3E}">
        <p14:creationId xmlns:p14="http://schemas.microsoft.com/office/powerpoint/2010/main" val="2509329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D41378-5193-EE4E-3AA1-EFBD05E58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EDA7E6D0-7D4A-6F7A-FF39-67B019D5B1E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980728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Рисунки</a:t>
            </a:r>
            <a:b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</a:b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(пример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4CCD7-B5CD-C0CE-A698-DA220C1D5BD4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13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5A7332A-93BE-403E-931A-63E9059FA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332000"/>
            <a:ext cx="7200800" cy="535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857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EE4B89-2968-79E7-5616-EC66B35A4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0D8879AE-7683-66C5-353B-05186BB6292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980728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Рисунки</a:t>
            </a:r>
            <a:b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</a:b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(пример 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3883E-756F-FF0E-C85D-7B54A88285F7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14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13B9BF-CA30-E212-298E-5559910B1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031" y="1332000"/>
            <a:ext cx="3803939" cy="53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44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0F6893-A5DF-CF32-0F1A-D45EEC51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A9B014B9-05C0-7403-2152-B64EBB49DB3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Формулы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9421A-6BF7-E762-F20F-ECE83C1EE303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15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21F1EAC-E7BB-1D6F-4E37-A71FC43FF3F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836712"/>
            <a:ext cx="9144000" cy="6021288"/>
          </a:xfrm>
          <a:noFill/>
        </p:spPr>
        <p:txBody>
          <a:bodyPr/>
          <a:lstStyle/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В конце абзаца, следующего перед формулой, ставится двоеточие.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Формулы создаются с помощью редактора формул офисного приложения.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Формулы следует выделять из текста в отдельную строку. Формулы, следующие одна за другой и не разделенные текстом, отделяют друг от друга запятой.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Параметры абзаца как для обыкновенного текста раздела.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Формулы должны нумероваться в пределах раздела (приложения) арабскими цифрами. Номер формулы должен состоять из номера раздела и порядкового номера формулы, разделённых точкой, например: «(1.2)». Номер указывают с правой стороны листа на уровне формулы в круглых скобках.</a:t>
            </a:r>
          </a:p>
        </p:txBody>
      </p:sp>
    </p:spTree>
    <p:extLst>
      <p:ext uri="{BB962C8B-B14F-4D97-AF65-F5344CB8AC3E}">
        <p14:creationId xmlns:p14="http://schemas.microsoft.com/office/powerpoint/2010/main" val="2020785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2BAA82-839B-8032-2AE9-FC8861BD0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CAE26424-2D48-7E65-287C-6171DFD7386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Формулы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D058B3-1014-7821-ED7B-C155993F7209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16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FE444AF-0CC5-E84F-80E3-19AFF28914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835199"/>
            <a:ext cx="9144000" cy="6021609"/>
          </a:xfrm>
          <a:noFill/>
        </p:spPr>
        <p:txBody>
          <a:bodyPr/>
          <a:lstStyle/>
          <a:p>
            <a:pPr marL="457200" indent="-4572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 startAt="6"/>
            </a:pPr>
            <a:r>
              <a:rPr lang="ru-RU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Значения символов и числовых коэффициентов, входящих в формулу, должны быть приведены непосредственно под формулой. Значение каждого символа дают с новой строки в той последовательности, в какой они приведены в формуле. Первая строка расшифровки должна начинаться со слова «где» без двоеточия после него. После смыслового описания значения ставится запятая и указывается его единица измерения. В конце описания значений для всех, кроме последнего, ставится точка с запятой, после последнего – точка.</a:t>
            </a:r>
          </a:p>
          <a:p>
            <a:pPr marL="457200" indent="-4572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 startAt="6"/>
            </a:pPr>
            <a:r>
              <a:rPr lang="ru-RU" altLang="ru-RU" sz="2000" dirty="0">
                <a:effectLst/>
              </a:rPr>
              <a:t>До формулы и после описания </a:t>
            </a:r>
            <a:r>
              <a:rPr lang="ru-RU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символов и числовых коэффициентов </a:t>
            </a:r>
            <a:r>
              <a:rPr lang="ru-RU" altLang="ru-RU" sz="2000" dirty="0">
                <a:effectLst/>
              </a:rPr>
              <a:t>пустые строки не ставятся.</a:t>
            </a:r>
          </a:p>
          <a:p>
            <a:pPr marL="457200" indent="-4572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 startAt="6"/>
            </a:pPr>
            <a:r>
              <a:rPr lang="ru-RU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Для написания формул можно вставить таблицу с необходимым количеством строк без отрисовки границ на всю ширину страницы. Выравнивание в ячейках с формулой и ее номером по горизонтали и по вертикали – «по центру». Ширина ячейки с номером формулы – 1,5 </a:t>
            </a:r>
            <a:r>
              <a:rPr lang="en-US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.. 2 </a:t>
            </a:r>
            <a:r>
              <a:rPr lang="ru-RU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см. Ширина ячейки с надписью «где» – 1,5 см. Выравнивание по горизонтали для ячеек с описанием символов и числовых коэффициентов – «по ширине». </a:t>
            </a:r>
          </a:p>
        </p:txBody>
      </p:sp>
    </p:spTree>
    <p:extLst>
      <p:ext uri="{BB962C8B-B14F-4D97-AF65-F5344CB8AC3E}">
        <p14:creationId xmlns:p14="http://schemas.microsoft.com/office/powerpoint/2010/main" val="3799955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E5A84F-6EBE-F77C-93A2-96938A1D5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7D887E96-D5BE-8D31-5953-A0D33E2780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Формулы</a:t>
            </a:r>
            <a:b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</a:b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(пример)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456CF-BCE2-6A96-36EB-5F9558BF3132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17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B1C5F0D-2EED-7069-D935-3106DBEFD3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1340768"/>
            <a:ext cx="9144000" cy="5516040"/>
          </a:xfrm>
          <a:noFill/>
        </p:spPr>
        <p:txBody>
          <a:bodyPr/>
          <a:lstStyle/>
          <a:p>
            <a:pPr marL="457200" indent="-4572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 startAt="8"/>
            </a:pPr>
            <a:r>
              <a:rPr lang="ru-RU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Формулы с непосредственными расчетами не нумеруются и даются без описания символов и числовых коэффициентов. Параметры абзаца как для обыкновенного текста раздела, кроме выравнивания. Выравнивание в строке с формулой по горизонтали – «по центру». </a:t>
            </a:r>
          </a:p>
          <a:p>
            <a:pPr marL="457200" indent="-4572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 startAt="8"/>
            </a:pPr>
            <a:endParaRPr lang="ru-RU" sz="20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3B8DA6F-ACB6-9C90-B4FE-0C7452FE4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2852936"/>
            <a:ext cx="8640000" cy="256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90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C3CB1A-8FD3-655B-36B0-F991F0F1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9D667F0C-D99B-B5E1-A008-2C6AB330EB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Списки (перечисления)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C36AA-B747-F92B-C40B-1540496592A6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18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D75A421-05CC-DB87-9A01-0C765FE9F65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836712"/>
            <a:ext cx="9144000" cy="6021288"/>
          </a:xfrm>
          <a:noFill/>
        </p:spPr>
        <p:txBody>
          <a:bodyPr/>
          <a:lstStyle/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В конце абзаца, следующего перед списком, ставится двоеточие.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Каждый элемент списка должен следовать с новой строки.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Перед элементом спискам может следовать абзацный отступ (пример 1), буква (пример 2), цифра (пример 3), дефис или «короткое тире» (пример 4).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altLang="ru-RU" sz="2000" dirty="0">
                <a:effectLst/>
              </a:rPr>
              <a:t>Параметры абзаца для каждого элемента списка как для обыкновенного текста раздела. Можно использовать маркированный (нумерованный) списки с отступом слева и выступом первой строки 0,75 см для первого уровня списка (пример 5). Для многоуровневых списков отступы для последующих уровней можно сделать больше (пример 6).</a:t>
            </a:r>
          </a:p>
        </p:txBody>
      </p:sp>
    </p:spTree>
    <p:extLst>
      <p:ext uri="{BB962C8B-B14F-4D97-AF65-F5344CB8AC3E}">
        <p14:creationId xmlns:p14="http://schemas.microsoft.com/office/powerpoint/2010/main" val="2143870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BCFBD7-8699-CCC2-6203-731587D9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26B4DA46-DB3E-A00A-3161-344B8B549B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Списки (перечисления)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A9210-434B-9E67-A3C8-7F4B28413A7A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19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671E0E-9F8F-9780-8432-80C3F1CCAA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836712"/>
            <a:ext cx="9144000" cy="6021288"/>
          </a:xfrm>
          <a:noFill/>
        </p:spPr>
        <p:txBody>
          <a:bodyPr/>
          <a:lstStyle/>
          <a:p>
            <a:pPr marL="457200" indent="-4572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 startAt="5"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Если перед элементом списка ставится буквенное или цифровое обозначение с точкой, то описание каждого элемента списка начинается с заглавной буквы и в конце описания ставится точка (пример 7). В противном случае, описание начинается со строчной буквы и в конце описания ставится точка с запятой (рекомендуется – примеры 1 - 6) или запятая (пример 8).</a:t>
            </a:r>
          </a:p>
          <a:p>
            <a:pPr marL="457200" indent="-4572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 startAt="5"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После последнего элемента списка всегда ставится точка.</a:t>
            </a:r>
          </a:p>
          <a:p>
            <a:pPr marL="457200" indent="-4572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 startAt="5"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Для многоуровневых списков после элемента более высокого уровня ставится двоеточие (примеры 9 - 10).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 startAt="5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61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928E23-3A8B-AD9A-3036-540F0632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38A9C1A7-2F47-93A8-D8F3-27AB10CE99A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Списки</a:t>
            </a:r>
            <a:b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</a:b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(примеры)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9CBB7-CB21-A0B0-CF12-132BFF2870F5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20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07605CC-8281-A086-A62B-CDB0F2A921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1196753"/>
            <a:ext cx="9144000" cy="5660056"/>
          </a:xfrm>
          <a:noFill/>
        </p:spPr>
        <p:txBody>
          <a:bodyPr/>
          <a:lstStyle/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 1</a:t>
            </a: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 2</a:t>
            </a: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0AC2957-5668-2E40-8397-5E3F8D955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" y="1595000"/>
            <a:ext cx="7920000" cy="195543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86B2275-788B-E5DC-9CC2-71B6E9806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" y="4029543"/>
            <a:ext cx="7920000" cy="219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9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BF5A966-CA93-8063-B0B2-9F6DDEF21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070870C3-0335-775B-AA9F-768F522507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Списки</a:t>
            </a:r>
            <a:b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</a:b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(примеры)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0E840-2D9D-7773-5FEB-782FF9C117FE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21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91C9715-D43F-8231-2F94-B22D88C6E57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1196753"/>
            <a:ext cx="9144000" cy="5660056"/>
          </a:xfrm>
          <a:noFill/>
        </p:spPr>
        <p:txBody>
          <a:bodyPr/>
          <a:lstStyle/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 3</a:t>
            </a: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 4</a:t>
            </a: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118DEC4-A828-CEA5-A03B-5FCF05D09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01" y="1602959"/>
            <a:ext cx="7920000" cy="220382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A09B1E9-7418-B0C1-3BF0-FB05B3047E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01" y="4365105"/>
            <a:ext cx="7920000" cy="220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11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39A41E-26E3-39DD-76F7-68820893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525EBC4D-B00D-E789-5615-12C08745679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Списки</a:t>
            </a:r>
            <a:b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</a:b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(примеры)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267551-BDC2-29F2-C0C1-AB819F528663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22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B907F66-CEB8-449A-EAB6-BAAB5E1756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1196753"/>
            <a:ext cx="9144000" cy="5660056"/>
          </a:xfrm>
          <a:noFill/>
        </p:spPr>
        <p:txBody>
          <a:bodyPr/>
          <a:lstStyle/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 4</a:t>
            </a: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 5</a:t>
            </a: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62F09E-D16F-9E1F-A2CA-BA765A218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42" y="1602959"/>
            <a:ext cx="7920000" cy="22054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4334B4-BC89-425D-CAE0-EC44F4C0A9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42" y="4394509"/>
            <a:ext cx="7920000" cy="217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1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4614F5-168D-134C-7907-848480B36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A8AECAF7-602E-6A65-1A86-16205E3EA6B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Списки</a:t>
            </a:r>
            <a:b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</a:b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(примеры)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6664F2-73BB-3D48-C6CF-6A1834D17897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23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297300F-F8AC-3618-070C-AA63DBE1E50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1196753"/>
            <a:ext cx="9144000" cy="5660056"/>
          </a:xfrm>
          <a:noFill/>
        </p:spPr>
        <p:txBody>
          <a:bodyPr/>
          <a:lstStyle/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 6</a:t>
            </a: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549D3F-7AEE-F9D0-E009-41BF93B2F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" y="1602959"/>
            <a:ext cx="7920000" cy="473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987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7E4937-4373-8DA7-F236-9021FC491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49864B5C-904D-7C38-2FE7-F16EFD2EA72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Списки</a:t>
            </a:r>
            <a:b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</a:b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(примеры)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B780E-B9B8-752F-FA9A-FDE721B705DE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24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C1F995-9955-7B2A-8E7F-861B33CD8C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1196753"/>
            <a:ext cx="9144000" cy="5660056"/>
          </a:xfrm>
          <a:noFill/>
        </p:spPr>
        <p:txBody>
          <a:bodyPr/>
          <a:lstStyle/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 7</a:t>
            </a: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4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 8</a:t>
            </a: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C73369-8E6F-DE56-1511-397763C70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99" y="4221088"/>
            <a:ext cx="7920000" cy="220272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0E0F5C0-BA35-24A5-0570-36C84AFDEC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98" y="1594999"/>
            <a:ext cx="7919999" cy="215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701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CAC00B-7C32-9059-2EBA-ED6F36FA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F2582F4E-6567-5674-9C98-632182DF816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Списки</a:t>
            </a:r>
            <a:b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</a:b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(примеры)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AA5ECC-0E07-E749-5067-2CC9A773B840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25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E4190B9-BD2D-72B1-8A47-06666BB426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1196753"/>
            <a:ext cx="9144000" cy="5660056"/>
          </a:xfrm>
          <a:noFill/>
        </p:spPr>
        <p:txBody>
          <a:bodyPr/>
          <a:lstStyle/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 9</a:t>
            </a: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AD97BA-1AF9-985B-F2AF-9EE21914E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" y="1602959"/>
            <a:ext cx="7920000" cy="473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03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963A07-FCAE-2CB9-FC14-366334FE6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0812EB42-3245-88FB-F1DF-948A93557C6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Списки</a:t>
            </a:r>
            <a:b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</a:b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(примеры)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44EA7-FE7B-8554-D2AF-B403433F9E42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26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FDEF026-C4C7-631D-E5C9-693504001DC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1196753"/>
            <a:ext cx="9144000" cy="5660056"/>
          </a:xfrm>
          <a:noFill/>
        </p:spPr>
        <p:txBody>
          <a:bodyPr/>
          <a:lstStyle/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 10</a:t>
            </a: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</a:pP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E3A182-9003-1973-6043-FB192C73A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04" y="1602960"/>
            <a:ext cx="7920000" cy="473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873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107300-3C7B-85F6-9CE3-7EE663166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5E61C94C-F210-E75E-8CB7-7C7101BC6C7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49275"/>
          </a:xfrm>
        </p:spPr>
        <p:txBody>
          <a:bodyPr anchor="t"/>
          <a:lstStyle/>
          <a:p>
            <a:pPr eaLnBrk="1" hangingPunct="1">
              <a:defRPr/>
            </a:pPr>
            <a:r>
              <a:rPr lang="ru-RU" sz="3600" dirty="0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</a:rPr>
              <a:t>Использованные источники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1173A1-8298-3D66-EC43-DE3E5C552A6F}"/>
              </a:ext>
            </a:extLst>
          </p:cNvPr>
          <p:cNvSpPr txBox="1"/>
          <p:nvPr/>
        </p:nvSpPr>
        <p:spPr>
          <a:xfrm>
            <a:off x="8633023" y="1191"/>
            <a:ext cx="516632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r"/>
            <a:fld id="{D18103BC-E23C-40D9-A740-D8D7E3280594}" type="slidenum">
              <a:rPr lang="ru-RU" smtClean="0">
                <a:effectLst>
                  <a:outerShdw blurRad="38100" dist="38100" dir="2700000" algn="tl">
                    <a:srgbClr val="010199"/>
                  </a:outerShdw>
                </a:effectLst>
                <a:latin typeface="+mj-lt"/>
                <a:ea typeface="+mj-ea"/>
                <a:cs typeface="+mj-cs"/>
              </a:rPr>
              <a:t>27</a:t>
            </a:fld>
            <a:endParaRPr lang="ru-RU">
              <a:effectLst>
                <a:outerShdw blurRad="38100" dist="38100" dir="2700000" algn="tl">
                  <a:srgbClr val="010199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5DAF26E-E75E-2B39-7818-204787EA0B5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835199"/>
            <a:ext cx="9144000" cy="6021609"/>
          </a:xfrm>
          <a:noFill/>
        </p:spPr>
        <p:txBody>
          <a:bodyPr/>
          <a:lstStyle/>
          <a:p>
            <a:pPr marL="457200" indent="-4572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Список использованных источников в выпускной квалификационной работе (ВКР) должен состоять не менее чем из 15 наименований. </a:t>
            </a:r>
          </a:p>
          <a:p>
            <a:pPr marL="457200" indent="-4572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Оформление списка выполняется в соответствии с ГОСТ Р 7.0.100-2018 «Библиографическая запись. Библиографическое описание».</a:t>
            </a:r>
          </a:p>
          <a:p>
            <a:pPr marL="457200" indent="-4572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Для магистров в списке использованных источников обязательно должны быть их работы, опубликованные по теме ВКР (магистерской диссертации).</a:t>
            </a:r>
          </a:p>
          <a:p>
            <a:pPr marL="457200" indent="-4572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В пояснительной записке к ВКР обязательно должны быть ссылки на использованные источники, которые проставляются в конце цитирования</a:t>
            </a:r>
            <a:r>
              <a:rPr lang="en-US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или ссылки на заимствование в квадратных скобках. Ссылка обычно ставится в конце предложения перед точкой. </a:t>
            </a:r>
          </a:p>
          <a:p>
            <a:pPr marL="457200" indent="-457200" algn="just" eaLnBrk="1" hangingPunct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endParaRPr lang="ru-RU" sz="20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5D4A28F-41D0-156E-5E61-53747E4CEF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99" y="4734627"/>
            <a:ext cx="7200000" cy="197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50255"/>
      </p:ext>
    </p:extLst>
  </p:cSld>
  <p:clrMapOvr>
    <a:masterClrMapping/>
  </p:clrMapOvr>
</p:sld>
</file>

<file path=ppt/theme/theme1.xml><?xml version="1.0" encoding="utf-8"?>
<a:theme xmlns:a="http://schemas.openxmlformats.org/drawingml/2006/main" name="Орбит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рбита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рбита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рбита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рбита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рбита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рбита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рбита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рбита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рбита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рбита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</Template>
  <TotalTime>3719</TotalTime>
  <Words>1786</Words>
  <Application>Microsoft Office PowerPoint</Application>
  <PresentationFormat>Экран (4:3)</PresentationFormat>
  <Paragraphs>284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Times New Roman</vt:lpstr>
      <vt:lpstr>Wingdings</vt:lpstr>
      <vt:lpstr>Орбита</vt:lpstr>
      <vt:lpstr>Оформление курсовых работ, курсовых проектов и выпускных квалификационных работ</vt:lpstr>
      <vt:lpstr>Общие требования</vt:lpstr>
      <vt:lpstr>Заголовки разделов (глав)</vt:lpstr>
      <vt:lpstr>Основной текст раздела (главы)</vt:lpstr>
      <vt:lpstr>Заголовки и основной текст (пример)</vt:lpstr>
      <vt:lpstr>Таблицы – Заголовок перед таблицей</vt:lpstr>
      <vt:lpstr>Таблицы – Шапка таблицы</vt:lpstr>
      <vt:lpstr>Таблицы – Тело таблицы</vt:lpstr>
      <vt:lpstr>Таблицы – дополнительные требования</vt:lpstr>
      <vt:lpstr>Таблицы (пример)</vt:lpstr>
      <vt:lpstr>Рисунки – Подпись после рисунка</vt:lpstr>
      <vt:lpstr>Рисунки – дополнительные требования</vt:lpstr>
      <vt:lpstr>Рисунки (пример 1)</vt:lpstr>
      <vt:lpstr>Рисунки (пример 2)</vt:lpstr>
      <vt:lpstr>Формулы</vt:lpstr>
      <vt:lpstr>Формулы</vt:lpstr>
      <vt:lpstr>Формулы (пример)</vt:lpstr>
      <vt:lpstr>Списки (перечисления)</vt:lpstr>
      <vt:lpstr>Списки (перечисления)</vt:lpstr>
      <vt:lpstr>Списки (примеры)</vt:lpstr>
      <vt:lpstr>Списки (примеры)</vt:lpstr>
      <vt:lpstr>Списки (примеры)</vt:lpstr>
      <vt:lpstr>Списки (примеры)</vt:lpstr>
      <vt:lpstr>Списки (примеры)</vt:lpstr>
      <vt:lpstr>Списки (примеры)</vt:lpstr>
      <vt:lpstr>Списки (примеры)</vt:lpstr>
      <vt:lpstr>Использованные источники</vt:lpstr>
    </vt:vector>
  </TitlesOfParts>
  <Company>dvgups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Модель и диаграммы классов анализа</dc:title>
  <dc:creator>vva</dc:creator>
  <cp:lastModifiedBy>Владимир Анисимов</cp:lastModifiedBy>
  <cp:revision>140</cp:revision>
  <dcterms:created xsi:type="dcterms:W3CDTF">2007-11-06T22:42:51Z</dcterms:created>
  <dcterms:modified xsi:type="dcterms:W3CDTF">2026-09-03T07:44:33Z</dcterms:modified>
</cp:coreProperties>
</file>